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284" y="2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  <a:t>2024/11/21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462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  <a:t>2024/11/21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6534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  <a:t>2024/11/21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803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  <a:t>2024/11/21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1638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  <a:t>2024/11/21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750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  <a:t>2024/11/21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806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  <a:t>2024/11/21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5165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  <a:t>2024/11/21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2402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  <a:t>2024/11/21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9335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  <a:t>2024/11/21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762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  <a:t>2024/11/21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515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F60DB7-6E48-4466-B7A9-24611520A472}" type="datetimeFigureOut">
              <a:rPr lang="zh-CN" altLang="en-US" smtClean="0"/>
              <a:t>2024/11/21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5D7CD6-334A-41AE-9AE2-B93EEDD81D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4068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F8086587-EC4A-4BF9-8FC4-F56A4C5739ED}"/>
              </a:ext>
            </a:extLst>
          </p:cNvPr>
          <p:cNvSpPr/>
          <p:nvPr/>
        </p:nvSpPr>
        <p:spPr>
          <a:xfrm>
            <a:off x="453358" y="591671"/>
            <a:ext cx="845244" cy="47641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3364A22-EAF1-4AC6-8E7B-7D90A16C8374}"/>
              </a:ext>
            </a:extLst>
          </p:cNvPr>
          <p:cNvSpPr txBox="1"/>
          <p:nvPr/>
        </p:nvSpPr>
        <p:spPr>
          <a:xfrm>
            <a:off x="456407" y="706765"/>
            <a:ext cx="79541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VAL client 1</a:t>
            </a:r>
            <a:endParaRPr lang="zh-CN" altLang="en-US" sz="10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E729ED2-C1B5-4C26-B330-CF41D85DA207}"/>
              </a:ext>
            </a:extLst>
          </p:cNvPr>
          <p:cNvSpPr/>
          <p:nvPr/>
        </p:nvSpPr>
        <p:spPr>
          <a:xfrm>
            <a:off x="1536806" y="591671"/>
            <a:ext cx="845244" cy="47641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BE29563-CC96-4331-AEDE-4A5FE42D3DCE}"/>
              </a:ext>
            </a:extLst>
          </p:cNvPr>
          <p:cNvSpPr txBox="1"/>
          <p:nvPr/>
        </p:nvSpPr>
        <p:spPr>
          <a:xfrm>
            <a:off x="1539855" y="706765"/>
            <a:ext cx="7393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VAL server</a:t>
            </a:r>
            <a:endParaRPr lang="zh-CN" altLang="en-US" sz="10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B7350A2-1C7C-41A7-99FF-C41ADEB4502C}"/>
              </a:ext>
            </a:extLst>
          </p:cNvPr>
          <p:cNvSpPr/>
          <p:nvPr/>
        </p:nvSpPr>
        <p:spPr>
          <a:xfrm>
            <a:off x="2873828" y="591671"/>
            <a:ext cx="845244" cy="47641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A7FC169-9E64-4BDC-B7EE-10EA1A843B83}"/>
              </a:ext>
            </a:extLst>
          </p:cNvPr>
          <p:cNvSpPr txBox="1"/>
          <p:nvPr/>
        </p:nvSpPr>
        <p:spPr>
          <a:xfrm>
            <a:off x="2876877" y="706765"/>
            <a:ext cx="8002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NRM server</a:t>
            </a:r>
            <a:endParaRPr lang="zh-CN" altLang="en-US" sz="10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A66CCE6-EA5C-4974-A0B5-45DC61E03F1F}"/>
              </a:ext>
            </a:extLst>
          </p:cNvPr>
          <p:cNvSpPr/>
          <p:nvPr/>
        </p:nvSpPr>
        <p:spPr>
          <a:xfrm>
            <a:off x="4210850" y="591671"/>
            <a:ext cx="845244" cy="47641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9B19A36-3B38-4929-8781-5A9F7C5E6C77}"/>
              </a:ext>
            </a:extLst>
          </p:cNvPr>
          <p:cNvSpPr txBox="1"/>
          <p:nvPr/>
        </p:nvSpPr>
        <p:spPr>
          <a:xfrm>
            <a:off x="4438547" y="706764"/>
            <a:ext cx="3898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5GS</a:t>
            </a:r>
            <a:endParaRPr lang="zh-CN" altLang="en-US" sz="1000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9725573-57E8-43A4-B57D-B2AF1CC3613A}"/>
              </a:ext>
            </a:extLst>
          </p:cNvPr>
          <p:cNvSpPr/>
          <p:nvPr/>
        </p:nvSpPr>
        <p:spPr>
          <a:xfrm>
            <a:off x="5693868" y="591671"/>
            <a:ext cx="845244" cy="47641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E00D5FE-8793-4C6B-8BB4-55CBA991B527}"/>
              </a:ext>
            </a:extLst>
          </p:cNvPr>
          <p:cNvSpPr txBox="1"/>
          <p:nvPr/>
        </p:nvSpPr>
        <p:spPr>
          <a:xfrm>
            <a:off x="5735616" y="714281"/>
            <a:ext cx="7617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NRM client</a:t>
            </a:r>
            <a:endParaRPr lang="zh-CN" altLang="en-US" sz="1000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2308F90-C49C-455D-A7F8-2C211B715FC9}"/>
              </a:ext>
            </a:extLst>
          </p:cNvPr>
          <p:cNvSpPr/>
          <p:nvPr/>
        </p:nvSpPr>
        <p:spPr>
          <a:xfrm>
            <a:off x="6831105" y="591671"/>
            <a:ext cx="845244" cy="47641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A53E9B1-66FA-49CE-A383-E2A3A01D9AB7}"/>
              </a:ext>
            </a:extLst>
          </p:cNvPr>
          <p:cNvSpPr txBox="1"/>
          <p:nvPr/>
        </p:nvSpPr>
        <p:spPr>
          <a:xfrm>
            <a:off x="6872853" y="714281"/>
            <a:ext cx="7008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VAL client</a:t>
            </a:r>
            <a:endParaRPr lang="zh-CN" altLang="en-US" sz="1000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BCAB1CC-5B0D-4506-8B3A-A9E3AA7696FA}"/>
              </a:ext>
            </a:extLst>
          </p:cNvPr>
          <p:cNvSpPr/>
          <p:nvPr/>
        </p:nvSpPr>
        <p:spPr>
          <a:xfrm>
            <a:off x="5547871" y="399571"/>
            <a:ext cx="2435839" cy="760718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C5213DF-FC5B-4267-A0B3-7A9129F2E812}"/>
              </a:ext>
            </a:extLst>
          </p:cNvPr>
          <p:cNvSpPr txBox="1"/>
          <p:nvPr/>
        </p:nvSpPr>
        <p:spPr>
          <a:xfrm>
            <a:off x="6311919" y="399237"/>
            <a:ext cx="5581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VAL UE</a:t>
            </a:r>
            <a:endParaRPr lang="zh-CN" altLang="en-US" sz="1000" dirty="0"/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255FE3CC-5E52-4C2D-9A09-18EBA9249C49}"/>
              </a:ext>
            </a:extLst>
          </p:cNvPr>
          <p:cNvGrpSpPr/>
          <p:nvPr/>
        </p:nvGrpSpPr>
        <p:grpSpPr>
          <a:xfrm>
            <a:off x="854112" y="1068079"/>
            <a:ext cx="6537079" cy="5083155"/>
            <a:chOff x="854112" y="1068080"/>
            <a:chExt cx="6537079" cy="3680316"/>
          </a:xfrm>
        </p:grpSpPr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21407297-0B83-4341-B40F-5241AB603FD6}"/>
                </a:ext>
              </a:extLst>
            </p:cNvPr>
            <p:cNvCxnSpPr>
              <a:stCxn id="4" idx="2"/>
            </p:cNvCxnSpPr>
            <p:nvPr/>
          </p:nvCxnSpPr>
          <p:spPr>
            <a:xfrm flipH="1">
              <a:off x="854112" y="1068081"/>
              <a:ext cx="21868" cy="3665284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2A1EABC1-8618-416D-BE86-740103F48A9B}"/>
                </a:ext>
              </a:extLst>
            </p:cNvPr>
            <p:cNvCxnSpPr/>
            <p:nvPr/>
          </p:nvCxnSpPr>
          <p:spPr>
            <a:xfrm flipH="1">
              <a:off x="1948494" y="1068080"/>
              <a:ext cx="21868" cy="3665284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38286CEE-4859-42DA-A3FF-EF9B0F17364B}"/>
                </a:ext>
              </a:extLst>
            </p:cNvPr>
            <p:cNvCxnSpPr/>
            <p:nvPr/>
          </p:nvCxnSpPr>
          <p:spPr>
            <a:xfrm flipH="1">
              <a:off x="3255118" y="1068080"/>
              <a:ext cx="21868" cy="3665284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83221054-F4D2-46F4-991E-8FBC49743BA2}"/>
                </a:ext>
              </a:extLst>
            </p:cNvPr>
            <p:cNvCxnSpPr/>
            <p:nvPr/>
          </p:nvCxnSpPr>
          <p:spPr>
            <a:xfrm flipH="1">
              <a:off x="4600670" y="1068080"/>
              <a:ext cx="21868" cy="3665284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219D6454-8D21-476E-A575-149732482475}"/>
                </a:ext>
              </a:extLst>
            </p:cNvPr>
            <p:cNvCxnSpPr/>
            <p:nvPr/>
          </p:nvCxnSpPr>
          <p:spPr>
            <a:xfrm flipH="1">
              <a:off x="6116489" y="1083112"/>
              <a:ext cx="21868" cy="3665284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91B7D139-2B84-48D4-A817-9929975F11C2}"/>
                </a:ext>
              </a:extLst>
            </p:cNvPr>
            <p:cNvCxnSpPr/>
            <p:nvPr/>
          </p:nvCxnSpPr>
          <p:spPr>
            <a:xfrm flipH="1">
              <a:off x="7369323" y="1083112"/>
              <a:ext cx="21868" cy="3665284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矩形 24">
            <a:extLst>
              <a:ext uri="{FF2B5EF4-FFF2-40B4-BE49-F238E27FC236}">
                <a16:creationId xmlns:a16="http://schemas.microsoft.com/office/drawing/2014/main" id="{8F15882A-C93C-40BB-8DDE-625AE5F8CFFF}"/>
              </a:ext>
            </a:extLst>
          </p:cNvPr>
          <p:cNvSpPr/>
          <p:nvPr/>
        </p:nvSpPr>
        <p:spPr>
          <a:xfrm>
            <a:off x="510730" y="1290918"/>
            <a:ext cx="7280879" cy="47641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4C4F39A-0898-4175-9838-B768E5A210A2}"/>
              </a:ext>
            </a:extLst>
          </p:cNvPr>
          <p:cNvSpPr txBox="1"/>
          <p:nvPr/>
        </p:nvSpPr>
        <p:spPr>
          <a:xfrm>
            <a:off x="639051" y="1329068"/>
            <a:ext cx="70372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1. The MBS session is established for a VAL group communication and associated with an active VAL service group. For multicast MBS session, the NRM clients have performed UE session join </a:t>
            </a: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29EE5EC3-90F2-4FFC-9072-89CF538CDE7C}"/>
              </a:ext>
            </a:extLst>
          </p:cNvPr>
          <p:cNvCxnSpPr/>
          <p:nvPr/>
        </p:nvCxnSpPr>
        <p:spPr>
          <a:xfrm>
            <a:off x="1959428" y="2105260"/>
            <a:ext cx="1317558" cy="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D9FDEBC6-05C9-4C75-8AE0-54C19C70A2BD}"/>
              </a:ext>
            </a:extLst>
          </p:cNvPr>
          <p:cNvSpPr txBox="1"/>
          <p:nvPr/>
        </p:nvSpPr>
        <p:spPr>
          <a:xfrm>
            <a:off x="2012813" y="1820889"/>
            <a:ext cx="2172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2. Multicast resource update request</a:t>
            </a:r>
            <a:endParaRPr lang="zh-CN" altLang="en-US" sz="1000" dirty="0"/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0990AD13-B779-4082-8DF8-001106774B60}"/>
              </a:ext>
            </a:extLst>
          </p:cNvPr>
          <p:cNvCxnSpPr/>
          <p:nvPr/>
        </p:nvCxnSpPr>
        <p:spPr>
          <a:xfrm>
            <a:off x="3297095" y="2324261"/>
            <a:ext cx="1317558" cy="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375D8624-DC9F-415B-B144-302DBC1F9E8E}"/>
              </a:ext>
            </a:extLst>
          </p:cNvPr>
          <p:cNvSpPr txBox="1"/>
          <p:nvPr/>
        </p:nvSpPr>
        <p:spPr>
          <a:xfrm>
            <a:off x="3350480" y="2039890"/>
            <a:ext cx="21114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3. Multicast resource update request</a:t>
            </a:r>
            <a:endParaRPr lang="zh-CN" altLang="en-US" sz="1000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1E58665-5DBA-4A18-91A0-6C528B5EC728}"/>
              </a:ext>
            </a:extLst>
          </p:cNvPr>
          <p:cNvSpPr/>
          <p:nvPr/>
        </p:nvSpPr>
        <p:spPr>
          <a:xfrm>
            <a:off x="3845604" y="2457319"/>
            <a:ext cx="1702267" cy="45841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6C2329B-D9C0-4CAD-9E16-A49E557A969E}"/>
              </a:ext>
            </a:extLst>
          </p:cNvPr>
          <p:cNvSpPr txBox="1"/>
          <p:nvPr/>
        </p:nvSpPr>
        <p:spPr>
          <a:xfrm>
            <a:off x="3870605" y="2467090"/>
            <a:ext cx="1702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4. Perform an MBS session update procedure</a:t>
            </a:r>
            <a:endParaRPr lang="zh-CN" altLang="en-US" sz="1000" dirty="0"/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556C5F9C-AE17-42E9-B4BB-9E22C7C8DA35}"/>
              </a:ext>
            </a:extLst>
          </p:cNvPr>
          <p:cNvCxnSpPr>
            <a:cxnSpLocks/>
          </p:cNvCxnSpPr>
          <p:nvPr/>
        </p:nvCxnSpPr>
        <p:spPr>
          <a:xfrm flipH="1">
            <a:off x="3283112" y="3281519"/>
            <a:ext cx="1317558" cy="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1A9D8676-F9D2-4977-BE1D-DE0564FABC1D}"/>
              </a:ext>
            </a:extLst>
          </p:cNvPr>
          <p:cNvSpPr txBox="1"/>
          <p:nvPr/>
        </p:nvSpPr>
        <p:spPr>
          <a:xfrm>
            <a:off x="3336497" y="2997148"/>
            <a:ext cx="21852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5. Multicast resource update response</a:t>
            </a:r>
            <a:endParaRPr lang="zh-CN" altLang="en-US" sz="1000" dirty="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72E7004-842D-49C4-9777-EAF6C1AFA695}"/>
              </a:ext>
            </a:extLst>
          </p:cNvPr>
          <p:cNvSpPr/>
          <p:nvPr/>
        </p:nvSpPr>
        <p:spPr>
          <a:xfrm>
            <a:off x="2910103" y="3414576"/>
            <a:ext cx="2662767" cy="45841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CB4BBEE-1053-4E2B-A4C1-7E8B0E491775}"/>
              </a:ext>
            </a:extLst>
          </p:cNvPr>
          <p:cNvSpPr txBox="1"/>
          <p:nvPr/>
        </p:nvSpPr>
        <p:spPr>
          <a:xfrm>
            <a:off x="2935104" y="3424347"/>
            <a:ext cx="26377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6. Perform an MBS session creation procedure per each grouped MBS service area</a:t>
            </a:r>
            <a:endParaRPr lang="zh-CN" altLang="en-US" sz="1000" dirty="0"/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0D983717-96EB-45EF-AC15-541479EAAC15}"/>
              </a:ext>
            </a:extLst>
          </p:cNvPr>
          <p:cNvCxnSpPr>
            <a:cxnSpLocks/>
          </p:cNvCxnSpPr>
          <p:nvPr/>
        </p:nvCxnSpPr>
        <p:spPr>
          <a:xfrm>
            <a:off x="3243710" y="4240214"/>
            <a:ext cx="2894647" cy="0"/>
          </a:xfrm>
          <a:prstGeom prst="straightConnector1">
            <a:avLst/>
          </a:prstGeom>
          <a:ln w="3175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19005C8B-47F5-4960-AF62-41566EF90CD3}"/>
              </a:ext>
            </a:extLst>
          </p:cNvPr>
          <p:cNvSpPr txBox="1"/>
          <p:nvPr/>
        </p:nvSpPr>
        <p:spPr>
          <a:xfrm>
            <a:off x="3297095" y="3955843"/>
            <a:ext cx="28921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7. Session announcement with updated information</a:t>
            </a:r>
            <a:endParaRPr lang="zh-CN" altLang="en-US" sz="1000" dirty="0"/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0B3B92E9-A32B-4554-8DE3-8AE1A8648A37}"/>
              </a:ext>
            </a:extLst>
          </p:cNvPr>
          <p:cNvCxnSpPr>
            <a:cxnSpLocks/>
          </p:cNvCxnSpPr>
          <p:nvPr/>
        </p:nvCxnSpPr>
        <p:spPr>
          <a:xfrm>
            <a:off x="3250684" y="4612414"/>
            <a:ext cx="2894647" cy="0"/>
          </a:xfrm>
          <a:prstGeom prst="straightConnector1">
            <a:avLst/>
          </a:prstGeom>
          <a:ln w="31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579C2C85-17DC-4074-99B8-8E775101786E}"/>
              </a:ext>
            </a:extLst>
          </p:cNvPr>
          <p:cNvSpPr txBox="1"/>
          <p:nvPr/>
        </p:nvSpPr>
        <p:spPr>
          <a:xfrm>
            <a:off x="3393696" y="4388375"/>
            <a:ext cx="17668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8. </a:t>
            </a:r>
            <a:r>
              <a:rPr lang="en-US" altLang="zh-CN" sz="1000" dirty="0" err="1"/>
              <a:t>MapGroupToSessionStream</a:t>
            </a:r>
            <a:endParaRPr lang="zh-CN" altLang="en-US" sz="1000" dirty="0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F017D8A-5628-4948-BBE4-97938C5D7064}"/>
              </a:ext>
            </a:extLst>
          </p:cNvPr>
          <p:cNvSpPr/>
          <p:nvPr/>
        </p:nvSpPr>
        <p:spPr>
          <a:xfrm>
            <a:off x="5285984" y="4703274"/>
            <a:ext cx="1702267" cy="40011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6838D68F-8329-4CE5-9BE6-1D9BB648D32F}"/>
              </a:ext>
            </a:extLst>
          </p:cNvPr>
          <p:cNvSpPr txBox="1"/>
          <p:nvPr/>
        </p:nvSpPr>
        <p:spPr>
          <a:xfrm>
            <a:off x="5310985" y="4713045"/>
            <a:ext cx="17731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9. Prepare to receive data over the updated MBS session</a:t>
            </a:r>
            <a:endParaRPr lang="zh-CN" altLang="en-US" sz="1000" dirty="0"/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C0EB7F24-4C52-49E0-85E6-7D788898042B}"/>
              </a:ext>
            </a:extLst>
          </p:cNvPr>
          <p:cNvCxnSpPr>
            <a:cxnSpLocks/>
          </p:cNvCxnSpPr>
          <p:nvPr/>
        </p:nvCxnSpPr>
        <p:spPr>
          <a:xfrm flipH="1">
            <a:off x="1941978" y="4913100"/>
            <a:ext cx="1317558" cy="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EA439B6C-0F51-46B4-8000-B08BF55EC487}"/>
              </a:ext>
            </a:extLst>
          </p:cNvPr>
          <p:cNvSpPr txBox="1"/>
          <p:nvPr/>
        </p:nvSpPr>
        <p:spPr>
          <a:xfrm>
            <a:off x="1995363" y="4628729"/>
            <a:ext cx="225093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10. Multicast resource update response</a:t>
            </a:r>
            <a:endParaRPr lang="zh-CN" altLang="en-US" sz="1000" dirty="0"/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B3FD5007-4C2A-435A-A8E2-09C96030FE6F}"/>
              </a:ext>
            </a:extLst>
          </p:cNvPr>
          <p:cNvCxnSpPr>
            <a:cxnSpLocks/>
          </p:cNvCxnSpPr>
          <p:nvPr/>
        </p:nvCxnSpPr>
        <p:spPr>
          <a:xfrm flipH="1">
            <a:off x="1928515" y="5251032"/>
            <a:ext cx="1317558" cy="0"/>
          </a:xfrm>
          <a:prstGeom prst="straightConnector1">
            <a:avLst/>
          </a:prstGeom>
          <a:ln w="3175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887C0C2A-DCC8-46E9-92C4-C79807A4DDF3}"/>
              </a:ext>
            </a:extLst>
          </p:cNvPr>
          <p:cNvSpPr txBox="1"/>
          <p:nvPr/>
        </p:nvSpPr>
        <p:spPr>
          <a:xfrm>
            <a:off x="1981900" y="4966661"/>
            <a:ext cx="17075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11. User plane delivery mode</a:t>
            </a:r>
            <a:endParaRPr lang="zh-CN" altLang="en-US" sz="1000" dirty="0"/>
          </a:p>
        </p:txBody>
      </p:sp>
      <p:sp>
        <p:nvSpPr>
          <p:cNvPr id="50" name="箭头: 右 49">
            <a:extLst>
              <a:ext uri="{FF2B5EF4-FFF2-40B4-BE49-F238E27FC236}">
                <a16:creationId xmlns:a16="http://schemas.microsoft.com/office/drawing/2014/main" id="{4869F082-8D90-4547-A93C-3FD7F263EE54}"/>
              </a:ext>
            </a:extLst>
          </p:cNvPr>
          <p:cNvSpPr/>
          <p:nvPr/>
        </p:nvSpPr>
        <p:spPr>
          <a:xfrm>
            <a:off x="854112" y="5528932"/>
            <a:ext cx="1074403" cy="236854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4C7836C8-C051-4E53-A172-14DD7D1E5D64}"/>
              </a:ext>
            </a:extLst>
          </p:cNvPr>
          <p:cNvSpPr txBox="1"/>
          <p:nvPr/>
        </p:nvSpPr>
        <p:spPr>
          <a:xfrm>
            <a:off x="892690" y="5341710"/>
            <a:ext cx="25010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12. VAL service group communication media</a:t>
            </a:r>
            <a:endParaRPr lang="zh-CN" altLang="en-US" sz="1000" dirty="0"/>
          </a:p>
        </p:txBody>
      </p:sp>
      <p:sp>
        <p:nvSpPr>
          <p:cNvPr id="52" name="箭头: 右 51">
            <a:extLst>
              <a:ext uri="{FF2B5EF4-FFF2-40B4-BE49-F238E27FC236}">
                <a16:creationId xmlns:a16="http://schemas.microsoft.com/office/drawing/2014/main" id="{AF0507D0-19E0-481F-9895-8658CC3E399A}"/>
              </a:ext>
            </a:extLst>
          </p:cNvPr>
          <p:cNvSpPr/>
          <p:nvPr/>
        </p:nvSpPr>
        <p:spPr>
          <a:xfrm>
            <a:off x="1962247" y="5529023"/>
            <a:ext cx="5407076" cy="260893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38AC00BE-CFA0-48C3-B970-FB5FA82AFCB5}"/>
              </a:ext>
            </a:extLst>
          </p:cNvPr>
          <p:cNvSpPr txBox="1"/>
          <p:nvPr/>
        </p:nvSpPr>
        <p:spPr>
          <a:xfrm>
            <a:off x="3620268" y="5419526"/>
            <a:ext cx="25010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13. VAL service group communication media</a:t>
            </a:r>
            <a:endParaRPr lang="zh-CN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868628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135</Words>
  <Application>Microsoft Office PowerPoint</Application>
  <PresentationFormat>全屏显示(4:3)</PresentationFormat>
  <Paragraphs>20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p_gcl2411</dc:creator>
  <cp:lastModifiedBy>Rev1</cp:lastModifiedBy>
  <cp:revision>6</cp:revision>
  <dcterms:created xsi:type="dcterms:W3CDTF">2024-11-21T10:46:48Z</dcterms:created>
  <dcterms:modified xsi:type="dcterms:W3CDTF">2024-11-21T03:11:29Z</dcterms:modified>
</cp:coreProperties>
</file>